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212080"/>
            <a:ext cx="13716000" cy="2743200"/>
          </a:xfrm>
          <a:prstGeom prst="rect">
            <a:avLst/>
          </a:prstGeom>
          <a:solidFill>
            <a:srgbClr val="0B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874519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37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D4EE"/>
                </a:solidFill>
                <a:latin typeface="Arial"/>
              </a:rPr>
              <a:t>EXPLAINABLE DEEP LEARNING FOR MEDICAL 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37215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2F6FC"/>
                </a:solidFill>
                <a:latin typeface="Arial"/>
              </a:rPr>
              <a:t>NeuroScan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63721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5D2E3"/>
                </a:solidFill>
                <a:latin typeface="Arial"/>
              </a:rPr>
              <a:t>Brain-Tumor MRI Classifier — ResNet50 → GradCAM → Local-LLM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E8DA4"/>
                </a:solidFill>
                <a:latin typeface="Arial"/>
              </a:rPr>
              <a:t>Educational &amp; research prototype —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The Problem &amp; The Idea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Why a classifier alone is not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Why this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</a:rPr>
              <a:t>Brain tumors are diagnosed from MRI scans — a slow, expert-dependent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Deep learning can flag the likely tumor type in seconds.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But a bare prediction is a black box — clinicians won't trust a number.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So NeuroScan adds two trust layers: a visual explanation and a written report.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Everything runs locally — no cloud, no API keys, full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What NeuroScan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</a:rPr>
              <a:t>One upload drives a four-step experience: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① Upload an MRI image in the browser.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② Get the predicted class + confidence for all four classes.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③ See a GradCAM heatmap of exactly where the model looked.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④ Read an auto-generated, structured clinical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8288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44768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Two front-ends: a Next.js web app (primary) and a legacy Gradio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The explainable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11" y="1554480"/>
            <a:ext cx="8348671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Predict → explain → report: each stage adds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The Data &amp; The Classes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What the model sees and predicts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Four classes — a fixed index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3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6465"/>
                <a:gridCol w="3191164"/>
                <a:gridCol w="6169584"/>
              </a:tblGrid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Index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Pituitary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Tumor of the pituitary gland; usually benign.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No Tumor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Healthy / negative scan (note the space in the label).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Meningioma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Tumor on the meninges around the brain.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Glioma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Tumor in the brain's glial cells; can be malignant.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754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This order is identical in every file — the shipped weights depend on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Preprocessing — same maths as ImageNet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Resize every scan to 224 × 224 pixels, RGB.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Convert to a tensor (pixels scaled 0 → 1).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Normalize with ImageNet mean [.485, .456, .406] and std [.229, .224, .225].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Why ImageNet stats? The backbone was pretrained on ImageNet — inputs must match.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Data augmentation (training only)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</a:rPr>
              <a:t>Random transforms make the model robust to real-world variation: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Horizontal + vertical flips → orientation invariance.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Rotation ±15° → tolerate slight scan misalignment.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ColorJitter → adapt to scanner brightness/contrast differences.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GaussianBlur → simulate motion / out-of-focus artifacts.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8288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44768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Validation uses NO augmentation — evaluation must be deterministic.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The Model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ResNet50 + transfer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Why ResNet50 + transfer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ResNet50: 50-layer residual CNN — deep but trainable thanks to skip connections.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Start from ImageNet weights → reuse generic edge/texture detectors.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Freeze the early layers; fine-tune only layer3 + layer4 (high-level features).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Replace the 1000-class head with a custom 4-class head.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Result: high accuracy from a small medical dataset, trained in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The classifier 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609" y="1554480"/>
            <a:ext cx="4184476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The duplicate Dropout(0.3) is intentional — it keeps the final layer at state-dict key fc.5 so the saved weights load strictly.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Training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How the weights were learned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Training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3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6465"/>
                <a:gridCol w="3191164"/>
                <a:gridCol w="6169584"/>
              </a:tblGrid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Optimizer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Adam, lr 1e-4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Adaptive, stable for fine-tuning.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Loss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CrossEntropy, smoothing 0.1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Label smoothing curbs over-confidence.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Regularization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Weight decay 1e-4 + dropout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Fights overfitting.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Scheduler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ReduceLROnPlateau ×0.5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Lower LR when val loss stalls.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Batch / Epochs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32 / max 20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Early-stop patience = 5.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Training results (real log)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24" y="1554480"/>
            <a:ext cx="9903846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Converged fast; best validation accuracy 99.39% at epoch 6, then early-stopped.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1447" y="137160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2CD4EE"/>
                </a:solidFill>
                <a:latin typeface="Arial"/>
              </a:rPr>
              <a:t>99.39%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E8DA4"/>
                </a:solidFill>
                <a:latin typeface="Arial"/>
              </a:rPr>
              <a:t>claimed validation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3B740"/>
                </a:solidFill>
                <a:latin typeface="Arial"/>
              </a:rPr>
              <a:t>…but we call it “claimed” on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846320"/>
            <a:ext cx="926561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5D2E3"/>
                </a:solidFill>
                <a:latin typeface="Arial"/>
              </a:rPr>
              <a:t>train.py reuses the test set as the validation set (data leakage). So this is an optimistic figure, not a validated generalization estimate — and the app says 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Honest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</a:rPr>
              <a:t>Owning the flaws is part of good science: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58568"/>
            <a:ext cx="10637215" cy="4142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Data leakage → accuracy is optimistic; a true held-out test set is needed.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Trained on one dataset → may not generalize to other scanners/populations.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Image classification ≠ diagnosis; no segmentation or staging.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Strictly educational/research — never a clinical decision tool.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Explainability &amp; Reporting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Turning a number into trust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GradCAM — where the model looked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Gradient-weighted Class Activation Mapping on the last conv block (layer4).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Gradients of the predicted class flow back → weight the feature maps.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Produces a heatmap overlaid on the MRI (red = most influential regions).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aug_smooth + eigen_smooth reduce noise for a cleaner map.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If grad-cam isn't installed → graceful fallback to the resized original.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Local-LLM clinical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A local Ollama model (default qwen2.5:1.5b) writes the report — no cloud, no key.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A structured prompt forces exactly 5 sections, &lt; 230 words, temperature 0.3.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Diagnosis summary · about the tumor · what the heatmap shows · next steps · disclaimer.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Why local? Privacy of medical data, offline use, zero cost.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If Ollama is down → the UI shows clear setup instructions, app keeps working.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The Engineering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Backend · Frontend ·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477" y="1554480"/>
            <a:ext cx="692873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63721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E8DA4"/>
                </a:solidFill>
                <a:latin typeface="Arial"/>
              </a:rPr>
              <a:t>nginx splits traffic: the page from Next.js, /api from FastAPI; PyTorch, GradCAM and Ollama sit behind the backend.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Backend —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Model loads once at startup (lifespan).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If load fails, API stays up and reports via /health.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INFERENCE_LOCK serializes the model (GradCAM hooks aren't thread-safe).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Runs inference in a threadpool to stay async.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055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7055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GET /api/health — capabilities &amp; device.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POST /api/predict — image → class, probs, GradCAM.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POST /api/report — scores → markdown report.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GET /api/metrics — training history.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Uploads validated: ≤15 MB, PNG/JPEG/WEBP/BMP.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Frontend — Next.js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Next.js 16, React 19, TypeScript.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Tailwind v4 (CSS-first) design tokens.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Pages: / · /analyze · /metrics · /about.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Dark/light “reading-room” theme; smooth 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055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API seam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7055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lib/api.ts maps snake_case ↔ camelCase.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Calls the backend directly, not the Next proxy…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…because the proxy's ~30s timeout cuts off slow CPU reports.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Hand-drawn SVG charts on /metrics (no chart library).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Deployment — Docker + nginx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800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Three containers: backend, frontend, and an internal Ollama.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Backend pins CPU PyTorch 2.6.0 to match the saved weights.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Services bind to localhost; a host nginx vhost (:8086) is the public door.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nginx routes /api → backend, everything else → frontend.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Tuned for a shared box: 2 CPU threads, Ollama unloads after 2 min idle.</a:t>
            </a:r>
          </a:p>
          <a:p>
            <a:pPr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•  </a:t>
            </a:r>
            <a:r>
              <a:rPr sz="1800" b="0">
                <a:solidFill>
                  <a:srgbClr val="C5D2E3"/>
                </a:solidFill>
                <a:latin typeface="Arial"/>
              </a:rPr>
              <a:t>Healthchecks + restart policies keep it alive. Live on a VPS today.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Full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4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1164"/>
                <a:gridCol w="7446050"/>
              </a:tblGrid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450" b="1">
                          <a:solidFill>
                            <a:srgbClr val="F2F6FC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109728" marR="109728" marT="45720" marB="45720" anchor="ctr"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ML / model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Python 3.12, PyTorch, torchvision (ResNet50)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Explainability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pytorch-grad-cam (GradCAM)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Report LLM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Ollama (qwen2.5:1.5b-instruct)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FastAPI + uvicorn, Pydantic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Next.js 16, React 19, TypeScript, Tailwind v4</a:t>
                      </a:r>
                    </a:p>
                  </a:txBody>
                  <a:tcPr marL="109728" marR="109728" marT="45720" marB="45720" anchor="ctr">
                    <a:solidFill>
                      <a:srgbClr val="0B10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1">
                          <a:solidFill>
                            <a:srgbClr val="C5D2E3"/>
                          </a:solidFill>
                          <a:latin typeface="Arial"/>
                        </a:rPr>
                        <a:t>Deployment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/>
                      <a:r>
                        <a:rPr sz="1300" b="0">
                          <a:solidFill>
                            <a:srgbClr val="C5D2E3"/>
                          </a:solidFill>
                          <a:latin typeface="Arial"/>
                        </a:rPr>
                        <a:t>Docker Compose + nginx on a VPS</a:t>
                      </a:r>
                    </a:p>
                  </a:txBody>
                  <a:tcPr marL="109728" marR="109728" marT="45720" marB="45720" anchor="ctr">
                    <a:solidFill>
                      <a:srgbClr val="0608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E2A40"/>
                </a:solidFill>
                <a:latin typeface="Arial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2044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F6FC"/>
                </a:solidFill>
                <a:latin typeface="Arial"/>
              </a:rPr>
              <a:t>Anticipated Questions</a:t>
            </a:r>
          </a:p>
          <a:p>
            <a:pPr algn="l" rtl="0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0">
                <a:solidFill>
                  <a:srgbClr val="7E8DA4"/>
                </a:solidFill>
                <a:latin typeface="Arial"/>
              </a:rPr>
              <a:t>Answers ready for the panel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F6FC"/>
                </a:solidFill>
                <a:latin typeface="Arial"/>
              </a:rPr>
              <a:t>Q&amp;A — be ready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43584"/>
            <a:ext cx="128016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“Is 99% real?” → No — data leakage; it's a claimed figure.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“Why ResNet50, not a ViT?” → Strong, data-efficient, easy to fine-tune.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“Overfitting?” → Dropout, weight decay, smoothing, augmentation.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600200"/>
            <a:ext cx="5090007" cy="4526280"/>
          </a:xfrm>
          <a:prstGeom prst="roundRect">
            <a:avLst/>
          </a:prstGeom>
          <a:solidFill>
            <a:srgbClr val="0B101D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055" y="1847088"/>
            <a:ext cx="4504791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D4EE"/>
                </a:solidFill>
                <a:latin typeface="Arial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7055" y="2395728"/>
            <a:ext cx="4504791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“Why a local LLM?” → Privacy, offline, no API cost.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“How does GradCAM work?” → Gradients × activations at layer4.</a:t>
            </a:r>
          </a:p>
          <a:p>
            <a:pPr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1">
                <a:solidFill>
                  <a:srgbClr val="2CD4EE"/>
                </a:solidFill>
                <a:latin typeface="Arial"/>
              </a:rPr>
              <a:t>•  </a:t>
            </a:r>
            <a:r>
              <a:rPr sz="1450" b="0">
                <a:solidFill>
                  <a:srgbClr val="C5D2E3"/>
                </a:solidFill>
                <a:latin typeface="Arial"/>
              </a:rPr>
              <a:t>“Clinical use?” → No — research/education only, by design.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212080"/>
            <a:ext cx="13716000" cy="2743200"/>
          </a:xfrm>
          <a:prstGeom prst="rect">
            <a:avLst/>
          </a:prstGeom>
          <a:solidFill>
            <a:srgbClr val="0B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94560"/>
            <a:ext cx="1828800" cy="64008"/>
          </a:xfrm>
          <a:prstGeom prst="rect">
            <a:avLst/>
          </a:prstGeom>
          <a:solidFill>
            <a:srgbClr val="2C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2F6FC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1063721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5D2E3"/>
                </a:solidFill>
                <a:latin typeface="Arial"/>
              </a:rPr>
              <a:t>Future work: a true held-out test set · segmentation · DICOM support · clinician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D4EE"/>
                </a:solidFill>
                <a:latin typeface="Arial"/>
              </a:rPr>
              <a:t>NeuroScan — explainable brain-tumor MRI analysis, fully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