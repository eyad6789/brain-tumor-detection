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212080"/>
            <a:ext cx="13716000" cy="2743200"/>
          </a:xfrm>
          <a:prstGeom prst="rect">
            <a:avLst/>
          </a:prstGeom>
          <a:solidFill>
            <a:srgbClr val="0B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85655" y="1874519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D4EE"/>
                </a:solidFill>
                <a:latin typeface="Arial"/>
                <a:cs typeface="Geeza Pro"/>
              </a:rPr>
              <a:t>تعلّم عميق قابل للتفسير في التصوير الطبي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637215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2F6FC"/>
                </a:solidFill>
                <a:latin typeface="Arial"/>
                <a:cs typeface="Geeza Pro"/>
              </a:rPr>
              <a:t>NeuroScan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637215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5D2E3"/>
                </a:solidFill>
                <a:latin typeface="Arial"/>
                <a:cs typeface="Geeza Pro"/>
              </a:rPr>
              <a:t>مُصنِّف أورام الدماغ من صور الرنين المغناطيسي — ResNet50 ثم GradCAM ثم تقرير بنموذج لغوي محلي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E8DA4"/>
                </a:solidFill>
                <a:latin typeface="Arial"/>
                <a:cs typeface="Geeza Pro"/>
              </a:rPr>
              <a:t>نموذج تعليمي وبحثي — ليس جهازًا طبيًا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  <a:cs typeface="Geeza Pro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9585655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  <a:cs typeface="Geeza Pro"/>
              </a:rPr>
              <a:t>المشكلة والفكرة</a:t>
            </a:r>
          </a:p>
          <a:p>
            <a:pPr algn="r" rtl="1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  <a:cs typeface="Geeza Pro"/>
              </a:rPr>
              <a:t>لماذا لا يكفي المُصنِّف وحده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لماذا هذا المشروع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5D2E3"/>
                </a:solidFill>
                <a:latin typeface="Arial"/>
                <a:cs typeface="Geeza Pro"/>
              </a:rPr>
              <a:t>تُشخَّص أورام الدماغ من صور الرنين المغناطيسي، وهي قراءة بطيئة تعتمد على الخبير.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39" y="2258568"/>
            <a:ext cx="10637215" cy="4142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يستطيع التعلّم العميق ترشيح نوع الورم المُحتمَل خلال ثوانٍ.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لكن التنبؤ المجرّد صندوق أسود، ولن يثق به الأطباء كرقم فقط.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لذا يضيف NeuroScan طبقتي ثقة: تفسيرًا بصريًا وتقريرًا مكتوبًا.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كل شيء يعمل محليًا — دون سحابة ولا مفاتيح API، وبخصوصية كاملة.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ماذا يفعل NeuroScan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5D2E3"/>
                </a:solidFill>
                <a:latin typeface="Arial"/>
                <a:cs typeface="Geeza Pro"/>
              </a:rPr>
              <a:t>رفعٌ واحد يُشغِّل تجربة من أربع خطوات: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39" y="2258568"/>
            <a:ext cx="10637215" cy="4142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① رفع صورة رنين مغناطيسي من المتصفح.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② الحصول على الفئة المتوقَّعة ونِسَب الثقة للفئات الأربع.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③ رؤية خريطة حرارية GradCAM تُبيّن أين نظر النموذج تحديدًا.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④ قراءة تقرير سريري منظَّم يُولَّد تلقائيًا.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8288"/>
          </a:xfrm>
          <a:prstGeom prst="rect">
            <a:avLst/>
          </a:prstGeom>
          <a:solidFill>
            <a:srgbClr val="1E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44768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  <a:cs typeface="Geeza Pro"/>
              </a:rPr>
              <a:t>واجهتان: تطبيق ويب بـ Next.js (الأساسي) وواجهة Gradio قديمة.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خط المعالجة القابل للتفسير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511" y="1554480"/>
            <a:ext cx="8348671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97880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  <a:cs typeface="Geeza Pro"/>
              </a:rPr>
              <a:t>تنبّؤ ← تفسير ← تقرير: كل مرحلة تزيد الثقة.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  <a:cs typeface="Geeza Pro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9585655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  <a:cs typeface="Geeza Pro"/>
              </a:rPr>
              <a:t>البيانات والفئات</a:t>
            </a:r>
          </a:p>
          <a:p>
            <a:pPr algn="r" rtl="1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  <a:cs typeface="Geeza Pro"/>
              </a:rPr>
              <a:t>ما الذي يراه النموذج ويتنبأ به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أربع فئات بترتيب فهرسي ثابت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3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69584"/>
                <a:gridCol w="3191164"/>
                <a:gridCol w="1276465"/>
              </a:tblGrid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  <a:cs typeface="Geeza Pro"/>
                        </a:rPr>
                        <a:t>ما هي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  <a:cs typeface="Geeza Pro"/>
                        </a:rPr>
                        <a:t>الفئة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  <a:cs typeface="Geeza Pro"/>
                        </a:rPr>
                        <a:t>الفهرس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ورم في الغدة النخامية، غالبًا حميد.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نخامية (Pituitary)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0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فحص سليم/سلبي (لاحظ المسافة في التسمية).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لا يوجد ورم (No Tumor)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1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ورم في الأغشية السحائية المحيطة بالدماغ.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سحائي (Meningioma)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2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ورم في الخلايا الدبقية، وقد يكون خبيثًا.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دبقي (Glioma)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3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754880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  <a:cs typeface="Geeza Pro"/>
              </a:rPr>
              <a:t>هذا الترتيب موحَّد في كل الملفات، وتعتمد عليه الأوزان المُسلَّمة.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المعالجة المسبقة — رياضيات ImageNet نفسها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1600200"/>
            <a:ext cx="10637215" cy="4800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تغيير حجم كل صورة إلى 224×224 بكسل بنظام RGB.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التحويل إلى Tensor (قيم البكسل من 0 إلى 1).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التطبيع بمتوسط ImageNet ‏[.485, .456, .406] والانحراف [.229, .224, .225].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لماذا إحصاءات ImageNet؟ لأن الشبكة دُرِّبت مسبقًا عليها، فيجب أن تطابقها المدخلات.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زيادة البيانات (في التدريب فقط)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5D2E3"/>
                </a:solidFill>
                <a:latin typeface="Arial"/>
                <a:cs typeface="Geeza Pro"/>
              </a:rPr>
              <a:t>تحويلات عشوائية تجعل النموذج أكثر متانة أمام تباين الواقع: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39" y="2258568"/>
            <a:ext cx="10637215" cy="4142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انعكاس أفقي ورأسي ← ثبات تجاه الاتجاه.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تدوير ‏±15° ← تحمُّل انحراف بسيط في المحاذاة.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ColorJitter ← التكيّف مع فروق السطوع/التباين بين الأجهزة.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GaussianBlur ← محاكاة تشوّش الحركة أو فقد التركيز.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8288"/>
          </a:xfrm>
          <a:prstGeom prst="rect">
            <a:avLst/>
          </a:prstGeom>
          <a:solidFill>
            <a:srgbClr val="1E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44768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  <a:cs typeface="Geeza Pro"/>
              </a:rPr>
              <a:t>التحقق لا يستخدم أي زيادة — يجب أن يكون التقييم حتميًا.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  <a:cs typeface="Geeza Pro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9585655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  <a:cs typeface="Geeza Pro"/>
              </a:rPr>
              <a:t>النموذج</a:t>
            </a:r>
          </a:p>
          <a:p>
            <a:pPr algn="r" rtl="1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  <a:cs typeface="Geeza Pro"/>
              </a:rPr>
              <a:t>ResNet50 مع التعلّم بالنقل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لماذا ResNet50 والتعلّم بالنقل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1600200"/>
            <a:ext cx="10637215" cy="4800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ResNet50: شبكة التفافية متبقّية من 50 طبقة — عميقة وقابلة للتدريب بفضل الوصلات التخطّيّة.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نبدأ من أوزان ImageNet ← إعادة استخدام كواشف الحواف والقوام العامة.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تجميد الطبقات المبكرة، وضبط layer3 وlayer4 فقط (السمات العليا).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استبدال رأس الألف فئة برأس مخصَّص من 4 فئات.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النتيجة: دقة عالية من مجموعة بيانات طبية صغيرة، وتدريب خلال دقائق.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رأس المُصنِّف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609" y="1554480"/>
            <a:ext cx="4184476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97880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  <a:cs typeface="Geeza Pro"/>
              </a:rPr>
              <a:t>تكرار Dropout(0.3) مقصود — يُبقي الطبقة الأخيرة عند المفتاح fc.5 لتُحمَّل الأوزان بدقّة.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  <a:cs typeface="Geeza Pro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9585655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  <a:cs typeface="Geeza Pro"/>
              </a:rPr>
              <a:t>التدريب</a:t>
            </a:r>
          </a:p>
          <a:p>
            <a:pPr algn="r" rtl="1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  <a:cs typeface="Geeza Pro"/>
              </a:rPr>
              <a:t>كيف تعلَّم النموذج أوزانه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وصفة التدريب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3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69584"/>
                <a:gridCol w="3191164"/>
                <a:gridCol w="1276465"/>
              </a:tblGrid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  <a:cs typeface="Geeza Pro"/>
                        </a:rPr>
                        <a:t>السبب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  <a:cs typeface="Geeza Pro"/>
                        </a:rPr>
                        <a:t>القيمة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  <a:cs typeface="Geeza Pro"/>
                        </a:rPr>
                        <a:t>الإعداد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تكيّفي ومستقر للضبط الدقيق.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Adam، ‏lr=1e-4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المُحسِّن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تنعيم التسميات يحدّ من الإفراط في الثقة.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CrossEntropy، تنعيم 0.1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دالة الخسارة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يقاوم فرط التخصيص.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Weight decay 1e-4 مع dropout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التنظيم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خفض المعدّل عند ثبات خسارة التحقق.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ReduceLROnPlateau ×0.5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جدولة المعدّل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إيقاف مبكر بصبر = 5.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32 / حتى 20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الدفعة/الحقب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نتائج التدريب (السجل الحقيقي)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24" y="1554480"/>
            <a:ext cx="9903846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97880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  <a:cs typeface="Geeza Pro"/>
              </a:rPr>
              <a:t>تقارب سريع؛ أفضل دقة تحقق 99.39% عند الحقبة 6، ثم إيقاف مبكر.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81447" y="137160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91695" cy="1737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2CD4EE"/>
                </a:solidFill>
                <a:latin typeface="Arial"/>
                <a:cs typeface="Geeza Pro"/>
              </a:rPr>
              <a:t>99.39%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E8DA4"/>
                </a:solidFill>
                <a:latin typeface="Arial"/>
                <a:cs typeface="Geeza Pro"/>
              </a:rPr>
              <a:t>دقة التحقق المُعلَنة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063721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3B740"/>
                </a:solidFill>
                <a:latin typeface="Arial"/>
                <a:cs typeface="Geeza Pro"/>
              </a:rPr>
              <a:t>…لكننا نسمّيها «مُعلَنة» عن قصد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846320"/>
            <a:ext cx="9265615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5D2E3"/>
                </a:solidFill>
                <a:latin typeface="Arial"/>
                <a:cs typeface="Geeza Pro"/>
              </a:rPr>
              <a:t>يعيد train.py استخدام مجموعة الاختبار كمجموعة تحقق (تسريب بيانات)، فهي رقم متفائل لا تقدير معمَّم مُتحقَّق منه — والتطبيق يصرّح بذلك.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حدود صادقة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5D2E3"/>
                </a:solidFill>
                <a:latin typeface="Arial"/>
                <a:cs typeface="Geeza Pro"/>
              </a:rPr>
              <a:t>الاعتراف بالعيوب جزء من العلم الجيد: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39" y="2258568"/>
            <a:ext cx="10637215" cy="4142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تسريب البيانات ← الدقة متفائلة؛ نحتاج مجموعة اختبار مستقلة فعلًا.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دُرِّب على مجموعة واحدة ← قد لا يعمّم على أجهزة/مجتمعات أخرى.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تصنيف الصور ليس تشخيصًا؛ لا تجزئة ولا تحديد مرحلة.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للأغراض التعليمية/البحثية فقط — وليس أداة قرار سريري.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  <a:cs typeface="Geeza Pro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9585655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  <a:cs typeface="Geeza Pro"/>
              </a:rPr>
              <a:t>التفسير وكتابة التقرير</a:t>
            </a:r>
          </a:p>
          <a:p>
            <a:pPr algn="r" rtl="1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  <a:cs typeface="Geeza Pro"/>
              </a:rPr>
              <a:t>تحويل الرقم إلى ثقة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GradCAM — أين نظر النموذج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1600200"/>
            <a:ext cx="10637215" cy="4800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خرائط تنشيط الفئة الموزونة بالتدرّج على آخر كتلة التفافية (layer4).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تتدفّق تدرّجات الفئة المتوقَّعة للخلف ← لترجيح خرائط السمات.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ينتج خريطة حرارية فوق صورة الرنين (الأحمر = أكثر المناطق تأثيرًا).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يقلّل aug_smooth وeigen_smooth الضوضاء لخريطة أوضح.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إن لم تُثبَّت grad-cam ← تراجُع آمن إلى الصورة الأصلية المُحجَّمة.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تقرير سريري بنموذج لغوي محلي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1600200"/>
            <a:ext cx="10637215" cy="4800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نموذج Ollama محلي (افتراضيًا qwen2.5:1.5b) يكتب التقرير — دون سحابة ولا مفتاح.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موجّه منظَّم يفرض 5 أقسام بالضبط، أقل من 230 كلمة، حرارة 0.3.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ملخص التشخيص · عن الورم · ما تُظهره الخريطة · الخطوات التالية · إخلاء المسؤولية.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لماذا محلي؟ خصوصية البيانات الطبية، والعمل دون إنترنت، وبلا تكلفة.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إن توقّف Ollama ← تعرض الواجهة تعليمات إعداد واضحة ويظل التطبيق يعمل.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  <a:cs typeface="Geeza Pro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9585655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  <a:cs typeface="Geeza Pro"/>
              </a:rPr>
              <a:t>الهندسة البرمجية</a:t>
            </a:r>
          </a:p>
          <a:p>
            <a:pPr algn="r" rtl="1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  <a:cs typeface="Geeza Pro"/>
              </a:rPr>
              <a:t>الخادم · الواجهة · النشر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معمارية النظام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477" y="1554480"/>
            <a:ext cx="6928739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97880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  <a:cs typeface="Geeza Pro"/>
              </a:rPr>
              <a:t>يقسّم nginx حركة المرور: الصفحة من Next.js و/api من FastAPI؛ وتقع PyTorch وGradCAM وOllama خلف الخادم.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الخادم —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5090007" cy="452628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847088"/>
            <a:ext cx="4504791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نقاط النهاية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395728"/>
            <a:ext cx="4504791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GET /api/health — القدرات والجهاز.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POST /api/predict — صورة ← فئة ونِسَب وGradCAM.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POST /api/report — نِسَب ← تقرير Markdown.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GET /api/metrics — سجل التدريب.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تُتحقَّق الملفات: ‏≤15 ميغابايت، PNG/JPEG/WEBP/BMP.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600200"/>
            <a:ext cx="5090007" cy="452628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7055" y="1847088"/>
            <a:ext cx="4504791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التصميم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7055" y="2395728"/>
            <a:ext cx="4504791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يُحمَّل النموذج مرة عند الإقلاع (lifespan).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عند فشل التحميل يبقى الـAPI ويُبلِّغ عبر /health.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يُسلسِل INFERENCE_LOCK الوصول للنموذج (خطّافات GradCAM ليست آمنة للخيوط).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يُشغّل الاستدلال في threadpool ليبقى لا-تزامنيًا.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الواجهة — Next.js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5090007" cy="452628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847088"/>
            <a:ext cx="4504791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وصلة الـAPI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395728"/>
            <a:ext cx="4504791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يربط lib/api.ts بين snake_case وcamelCase.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ينادي الخادم مباشرة لا وكيل Next…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…لأن مهلة الوكيل (~30 ثانية) تقطع التقارير البطيئة على المعالج.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رسوم SVG يدوية في /metrics (دون مكتبة رسوم).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600200"/>
            <a:ext cx="5090007" cy="452628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7055" y="1847088"/>
            <a:ext cx="4504791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التقنيات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7055" y="2395728"/>
            <a:ext cx="4504791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Next.js 16 وReact 19 وTypeScript.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رموز تصميم Tailwind v4 (CSS أولًا).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الصفحات: / · /analyze · /metrics · /about.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سمة «غرفة قراءة» داكنة/فاتحة مع حركة سلسة.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النشر — Docker و nginx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1600200"/>
            <a:ext cx="10637215" cy="4800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ثلاث حاويات: الخادم، والواجهة، وOllama داخلي.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يثبّت الخادم PyTorch 2.6.0 (CPU) لمطابقة الأوزان المحفوظة.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ترتبط الخدمات بـlocalhost، وبوّابة nginx على المضيف (:8086) هي المدخل العام.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يوجّه nginx ‏/api ← الخادم، وكل ما عداه ← الواجهة.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مضبوط لجهاز مشترك: خيطا معالج، وتفريغ Ollama بعد دقيقتي خمول.</a:t>
            </a:r>
          </a:p>
          <a:p>
            <a:pPr algn="r" rtl="1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  <a:cs typeface="Geeza Pro"/>
              </a:rPr>
              <a:t>فحوص صحية وسياسات إعادة تشغيل تُبقيه حيًّا. ويعمل على VPS الآن.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حزمة التقنيات الكاملة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4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46050"/>
                <a:gridCol w="3191164"/>
              </a:tblGrid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  <a:cs typeface="Geeza Pro"/>
                        </a:rPr>
                        <a:t>التقنية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  <a:cs typeface="Geeza Pro"/>
                        </a:rPr>
                        <a:t>الطبقة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Python 3.12، PyTorch، torchvision (ResNet50)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التعلّم الآلي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pytorch-grad-cam (GradCAM)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التفسير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Ollama (qwen2.5:1.5b-instruct)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نموذج التقرير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FastAPI و uvicorn و Pydantic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الخادم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Next.js 16، React 19، TypeScript، Tailwind v4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الواجهة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Docker Compose و nginx على VPS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  <a:cs typeface="Geeza Pro"/>
                        </a:rPr>
                        <a:t>النشر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  <a:cs typeface="Geeza Pro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9585655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  <a:cs typeface="Geeza Pro"/>
              </a:rPr>
              <a:t>أسئلة متوقَّعة</a:t>
            </a:r>
          </a:p>
          <a:p>
            <a:pPr algn="r" rtl="1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  <a:cs typeface="Geeza Pro"/>
              </a:rPr>
              <a:t>إجابات جاهزة للجنة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  <a:cs typeface="Geeza Pro"/>
              </a:rPr>
              <a:t>أسئلة وأجوبة — كن مستعدًا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5090007" cy="452628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847088"/>
            <a:ext cx="4504791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النظام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395728"/>
            <a:ext cx="4504791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«لماذا نموذج محلي؟» ← خصوصية وعمل دون إنترنت وبلا تكلفة.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«كيف يعمل GradCAM؟» ← تدرّجات × تنشيطات عند layer4.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«للاستخدام السريري؟» ← لا، للبحث/التعليم فقط، بحكم التصميم.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600200"/>
            <a:ext cx="5090007" cy="452628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7055" y="1847088"/>
            <a:ext cx="4504791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  <a:cs typeface="Geeza Pro"/>
              </a:rPr>
              <a:t>المنهجية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7055" y="2395728"/>
            <a:ext cx="4504791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«هل الـ99% حقيقية؟» ← لا، بسبب تسريب البيانات؛ فهي رقم مُعلَن.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«لماذا ResNet50 لا ViT؟» ← قوي وكفء في البيانات وسهل الضبط.</a:t>
            </a:r>
          </a:p>
          <a:p>
            <a:pPr algn="r" rtl="1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  <a:cs typeface="Geeza Pro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  <a:cs typeface="Geeza Pro"/>
              </a:rPr>
              <a:t>«فرط التخصيص؟» ← Dropout وweight decay وتنعيم وزيادة بيانات.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212080"/>
            <a:ext cx="13716000" cy="2743200"/>
          </a:xfrm>
          <a:prstGeom prst="rect">
            <a:avLst/>
          </a:prstGeom>
          <a:solidFill>
            <a:srgbClr val="0B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85655" y="219456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2F6FC"/>
                </a:solidFill>
                <a:latin typeface="Arial"/>
                <a:cs typeface="Geeza Pro"/>
              </a:rPr>
              <a:t>شكرًا لكم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10637215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5D2E3"/>
                </a:solidFill>
                <a:latin typeface="Arial"/>
                <a:cs typeface="Geeza Pro"/>
              </a:rPr>
              <a:t>أعمال مستقبلية: مجموعة اختبار مستقلة فعلًا · تجزئة · دعم DICOM · دراسة مع أطباء.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D4EE"/>
                </a:solidFill>
                <a:latin typeface="Arial"/>
                <a:cs typeface="Geeza Pro"/>
              </a:rPr>
              <a:t>NeuroScan — تحليل قابل للتفسير لأورام الدماغ، محليًا بالكامل.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